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5"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01"/>
    <p:restoredTop sz="94692"/>
  </p:normalViewPr>
  <p:slideViewPr>
    <p:cSldViewPr snapToGrid="0">
      <p:cViewPr varScale="1">
        <p:scale>
          <a:sx n="114" d="100"/>
          <a:sy n="114" d="100"/>
        </p:scale>
        <p:origin x="4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40AAD-80AF-40E7-BE3F-43D32FC68ED4}"/>
              </a:ext>
            </a:extLst>
          </p:cNvPr>
          <p:cNvSpPr>
            <a:spLocks noGrp="1"/>
          </p:cNvSpPr>
          <p:nvPr>
            <p:ph type="ctrTitle"/>
          </p:nvPr>
        </p:nvSpPr>
        <p:spPr>
          <a:xfrm>
            <a:off x="1524000" y="1122363"/>
            <a:ext cx="9144000" cy="2387600"/>
          </a:xfrm>
        </p:spPr>
        <p:txBody>
          <a:bodyPr anchor="b"/>
          <a:lstStyle>
            <a:lvl1pPr algn="l">
              <a:defRPr sz="6000" b="1" i="0" cap="all" baseline="0"/>
            </a:lvl1pPr>
          </a:lstStyle>
          <a:p>
            <a:r>
              <a:rPr lang="en-US"/>
              <a:t>Click to edit Master title style</a:t>
            </a:r>
          </a:p>
        </p:txBody>
      </p:sp>
      <p:sp>
        <p:nvSpPr>
          <p:cNvPr id="3" name="Subtitle 2">
            <a:extLst>
              <a:ext uri="{FF2B5EF4-FFF2-40B4-BE49-F238E27FC236}">
                <a16:creationId xmlns:a16="http://schemas.microsoft.com/office/drawing/2014/main" id="{EC80FBD9-0977-4B2B-9318-30774BB0947C}"/>
              </a:ext>
            </a:extLst>
          </p:cNvPr>
          <p:cNvSpPr>
            <a:spLocks noGrp="1"/>
          </p:cNvSpPr>
          <p:nvPr>
            <p:ph type="subTitle" idx="1"/>
          </p:nvPr>
        </p:nvSpPr>
        <p:spPr>
          <a:xfrm>
            <a:off x="1524000" y="3602038"/>
            <a:ext cx="9144000"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E66DA5-7751-4D3D-B753-58DF3B418763}"/>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5" name="Footer Placeholder 4">
            <a:extLst>
              <a:ext uri="{FF2B5EF4-FFF2-40B4-BE49-F238E27FC236}">
                <a16:creationId xmlns:a16="http://schemas.microsoft.com/office/drawing/2014/main" id="{7F8C2A2A-62DB-40C0-8AE7-CB9B98649B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1EAA4-F44C-4C1F-B8E3-1A3005300F50}"/>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11" name="Straight Connector 10">
            <a:extLst>
              <a:ext uri="{FF2B5EF4-FFF2-40B4-BE49-F238E27FC236}">
                <a16:creationId xmlns:a16="http://schemas.microsoft.com/office/drawing/2014/main" id="{D1B787A8-0D67-4B7E-9B48-86BD906AB6B5}"/>
              </a:ext>
            </a:extLst>
          </p:cNvPr>
          <p:cNvCxnSpPr>
            <a:cxnSpLocks/>
          </p:cNvCxnSpPr>
          <p:nvPr/>
        </p:nvCxnSpPr>
        <p:spPr>
          <a:xfrm>
            <a:off x="715890" y="1114050"/>
            <a:ext cx="0" cy="5735637"/>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1272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6CF8C-1EA0-4E47-AC60-CAC3B80A3C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8CABF8-19D8-4F3C-994F-4D35EC7A2C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97BB2D-4E2C-4490-A2A3-4B68BCC5D2F9}"/>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5" name="Footer Placeholder 4">
            <a:extLst>
              <a:ext uri="{FF2B5EF4-FFF2-40B4-BE49-F238E27FC236}">
                <a16:creationId xmlns:a16="http://schemas.microsoft.com/office/drawing/2014/main" id="{6140F15D-DD72-46D5-BF0F-F506471070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66FD4D-815A-431C-ADEF-DE6F236F617F}"/>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7" name="Straight Connector 6">
            <a:extLst>
              <a:ext uri="{FF2B5EF4-FFF2-40B4-BE49-F238E27FC236}">
                <a16:creationId xmlns:a16="http://schemas.microsoft.com/office/drawing/2014/main" id="{5C05CAAB-DBA2-4548-AD5F-01BB97FBB207}"/>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235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FC2D1-D3FE-4B37-8740-57444421FDBF}"/>
              </a:ext>
            </a:extLst>
          </p:cNvPr>
          <p:cNvSpPr>
            <a:spLocks noGrp="1"/>
          </p:cNvSpPr>
          <p:nvPr>
            <p:ph type="title"/>
          </p:nvPr>
        </p:nvSpPr>
        <p:spPr>
          <a:xfrm>
            <a:off x="831850" y="1709738"/>
            <a:ext cx="10515600" cy="2852737"/>
          </a:xfrm>
        </p:spPr>
        <p:txBody>
          <a:bodyPr anchor="b"/>
          <a:lstStyle>
            <a:lvl1pPr>
              <a:defRPr sz="6000" b="1" i="0" cap="all" baseline="0"/>
            </a:lvl1pPr>
          </a:lstStyle>
          <a:p>
            <a:r>
              <a:rPr lang="en-US"/>
              <a:t>Click to edit Master title style</a:t>
            </a:r>
          </a:p>
        </p:txBody>
      </p:sp>
      <p:sp>
        <p:nvSpPr>
          <p:cNvPr id="3" name="Text Placeholder 2">
            <a:extLst>
              <a:ext uri="{FF2B5EF4-FFF2-40B4-BE49-F238E27FC236}">
                <a16:creationId xmlns:a16="http://schemas.microsoft.com/office/drawing/2014/main" id="{BA5AF550-086C-426E-A374-85DB3957017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9A58988-AD39-4AE9-8E6A-0907F0BE2673}"/>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5" name="Footer Placeholder 4">
            <a:extLst>
              <a:ext uri="{FF2B5EF4-FFF2-40B4-BE49-F238E27FC236}">
                <a16:creationId xmlns:a16="http://schemas.microsoft.com/office/drawing/2014/main" id="{1D366319-82EE-408E-819F-8F8E6DBA7A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1C8A6-777F-496D-8620-AE52BFC33FC4}"/>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9" name="Straight Connector 8">
            <a:extLst>
              <a:ext uri="{FF2B5EF4-FFF2-40B4-BE49-F238E27FC236}">
                <a16:creationId xmlns:a16="http://schemas.microsoft.com/office/drawing/2014/main" id="{C031F83B-57A8-4533-981C-D1FFAD2B6B6F}"/>
              </a:ext>
            </a:extLst>
          </p:cNvPr>
          <p:cNvCxnSpPr>
            <a:cxnSpLocks/>
          </p:cNvCxnSpPr>
          <p:nvPr/>
        </p:nvCxnSpPr>
        <p:spPr>
          <a:xfrm>
            <a:off x="715890" y="1701425"/>
            <a:ext cx="0" cy="5148262"/>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6549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57166-6921-4546-BA2C-99E464681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95B9122-6371-4049-B57A-33DED7DA2F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14555D-0753-4312-A26B-2338813F9BB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D8FDCB-69DA-4A8F-8B91-5CFF77897C27}"/>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6" name="Footer Placeholder 5">
            <a:extLst>
              <a:ext uri="{FF2B5EF4-FFF2-40B4-BE49-F238E27FC236}">
                <a16:creationId xmlns:a16="http://schemas.microsoft.com/office/drawing/2014/main" id="{91AC8C07-E0D3-4464-AE3C-25730D75C8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2596A6-734E-4AE0-BFB8-3089137BF8E8}"/>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8" name="Straight Connector 7">
            <a:extLst>
              <a:ext uri="{FF2B5EF4-FFF2-40B4-BE49-F238E27FC236}">
                <a16:creationId xmlns:a16="http://schemas.microsoft.com/office/drawing/2014/main" id="{3FB7E8F4-3FB3-45AB-A381-9093CA95AAEE}"/>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141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057AE-3B3B-4261-B912-BF9EB9A58C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2A2D237-A706-4712-90CA-B04517CBBE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E39CA1-2B6D-427E-9688-9093D5865C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3D53357-616B-47F4-944B-F979FE9663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7EA593-3036-4FB5-94B4-D9431DF048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86B3EF2-2C04-480F-A570-14E520DD00DE}"/>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8" name="Footer Placeholder 7">
            <a:extLst>
              <a:ext uri="{FF2B5EF4-FFF2-40B4-BE49-F238E27FC236}">
                <a16:creationId xmlns:a16="http://schemas.microsoft.com/office/drawing/2014/main" id="{1CF5783E-3073-4F4D-8B9C-C5B18DDA5A3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1A75FE3-6719-4790-AA00-251BC2A6E5AF}"/>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10" name="Straight Connector 9">
            <a:extLst>
              <a:ext uri="{FF2B5EF4-FFF2-40B4-BE49-F238E27FC236}">
                <a16:creationId xmlns:a16="http://schemas.microsoft.com/office/drawing/2014/main" id="{160F34ED-DA60-4CC2-B735-B0EC5D9FEA35}"/>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35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9F227-D21C-48B3-828A-6BFA9585E8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DF1DFFF-E5C5-43DF-B71C-7270DB97372C}"/>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4" name="Footer Placeholder 3">
            <a:extLst>
              <a:ext uri="{FF2B5EF4-FFF2-40B4-BE49-F238E27FC236}">
                <a16:creationId xmlns:a16="http://schemas.microsoft.com/office/drawing/2014/main" id="{7EBC03C0-6EB7-4633-967C-12C35768BB5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FF4306-91CD-4B7B-8A53-34BE8F997581}"/>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6" name="Straight Connector 5">
            <a:extLst>
              <a:ext uri="{FF2B5EF4-FFF2-40B4-BE49-F238E27FC236}">
                <a16:creationId xmlns:a16="http://schemas.microsoft.com/office/drawing/2014/main" id="{57596AF9-469C-436D-B7D2-77952EF1825E}"/>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5427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DFF36D6-399B-43E3-84DD-9FC5119ECCE9}"/>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3" name="Footer Placeholder 2">
            <a:extLst>
              <a:ext uri="{FF2B5EF4-FFF2-40B4-BE49-F238E27FC236}">
                <a16:creationId xmlns:a16="http://schemas.microsoft.com/office/drawing/2014/main" id="{50234AB7-3B85-4028-A500-5A1BDBF45C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1F40F0-9909-442F-BBA4-409D061ED027}"/>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5" name="Straight Connector 4">
            <a:extLst>
              <a:ext uri="{FF2B5EF4-FFF2-40B4-BE49-F238E27FC236}">
                <a16:creationId xmlns:a16="http://schemas.microsoft.com/office/drawing/2014/main" id="{353C1207-D1C8-49E3-8837-E2B89D366FAE}"/>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6888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0F214-646F-4D81-AD12-65628EC987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EF71768-C3FA-49EF-99EF-06E6C3B284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2DA6F24-ED6C-4D12-A9D6-EE37FBD686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E6AACE-FAFB-4934-8E3C-AB5B216353D8}"/>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6" name="Footer Placeholder 5">
            <a:extLst>
              <a:ext uri="{FF2B5EF4-FFF2-40B4-BE49-F238E27FC236}">
                <a16:creationId xmlns:a16="http://schemas.microsoft.com/office/drawing/2014/main" id="{181533EA-D0F8-4C79-8721-F190DE2D2D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59BAC9-F101-4394-BBA4-3D21A3497126}"/>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8" name="Straight Connector 7">
            <a:extLst>
              <a:ext uri="{FF2B5EF4-FFF2-40B4-BE49-F238E27FC236}">
                <a16:creationId xmlns:a16="http://schemas.microsoft.com/office/drawing/2014/main" id="{0F3A79C9-7EDC-44F6-AC48-5DD98A7695AD}"/>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428317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CB71F-B6C2-4866-BC97-304F78816E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55ED73B-8413-478D-80D7-B78B69763B6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1BDF226-1B94-4D2D-98B3-7B932FB17D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0C4E9A-CA29-4CCD-ACFA-B29F80FBA163}"/>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6" name="Footer Placeholder 5">
            <a:extLst>
              <a:ext uri="{FF2B5EF4-FFF2-40B4-BE49-F238E27FC236}">
                <a16:creationId xmlns:a16="http://schemas.microsoft.com/office/drawing/2014/main" id="{71A5B7BE-3F1B-4FF3-B1D7-6E39B99D07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2F18F1-E27E-470E-AE13-4755DEE63A32}"/>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8" name="Straight Connector 7">
            <a:extLst>
              <a:ext uri="{FF2B5EF4-FFF2-40B4-BE49-F238E27FC236}">
                <a16:creationId xmlns:a16="http://schemas.microsoft.com/office/drawing/2014/main" id="{00F08750-B7F2-4119-B151-68DE77481335}"/>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4320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AD429-654B-4F0E-94E9-6FEF8EC67E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8D60B2-06F5-4567-BE1F-BBA5270537B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16F6F2-8269-4B80-8EE3-81FEE0F9DFA6}"/>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5" name="Footer Placeholder 4">
            <a:extLst>
              <a:ext uri="{FF2B5EF4-FFF2-40B4-BE49-F238E27FC236}">
                <a16:creationId xmlns:a16="http://schemas.microsoft.com/office/drawing/2014/main" id="{56BC86E4-3EDE-4EB4-B1A3-A1198AADD1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1752B0-ACEC-49EF-8131-FCF35BC5CD35}"/>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7" name="Straight Connector 6">
            <a:extLst>
              <a:ext uri="{FF2B5EF4-FFF2-40B4-BE49-F238E27FC236}">
                <a16:creationId xmlns:a16="http://schemas.microsoft.com/office/drawing/2014/main" id="{1A0462E3-375D-4E76-8886-69E06985D069}"/>
              </a:ext>
            </a:extLst>
          </p:cNvPr>
          <p:cNvCxnSpPr>
            <a:cxnSpLocks/>
          </p:cNvCxnSpPr>
          <p:nvPr/>
        </p:nvCxnSpPr>
        <p:spPr>
          <a:xfrm>
            <a:off x="715890" y="356812"/>
            <a:ext cx="0" cy="6492875"/>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4676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23B094-F480-477B-901C-7181F88C076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D052089-A920-4E52-98DC-8A5DC7B0AC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A074FE-F1B4-421F-A66E-FA351C8F99E9}"/>
              </a:ext>
            </a:extLst>
          </p:cNvPr>
          <p:cNvSpPr>
            <a:spLocks noGrp="1"/>
          </p:cNvSpPr>
          <p:nvPr>
            <p:ph type="dt" sz="half" idx="10"/>
          </p:nvPr>
        </p:nvSpPr>
        <p:spPr/>
        <p:txBody>
          <a:bodyPr/>
          <a:lstStyle/>
          <a:p>
            <a:fld id="{6A4B53A7-3209-46A6-9454-F38EAC8F11E7}" type="datetimeFigureOut">
              <a:rPr lang="en-US" smtClean="0"/>
              <a:t>12/7/25</a:t>
            </a:fld>
            <a:endParaRPr lang="en-US"/>
          </a:p>
        </p:txBody>
      </p:sp>
      <p:sp>
        <p:nvSpPr>
          <p:cNvPr id="5" name="Footer Placeholder 4">
            <a:extLst>
              <a:ext uri="{FF2B5EF4-FFF2-40B4-BE49-F238E27FC236}">
                <a16:creationId xmlns:a16="http://schemas.microsoft.com/office/drawing/2014/main" id="{34D764BA-3AB2-45FD-ABCB-975B3FDDF2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FB3FEF-8252-49FD-82F2-3E5FABC65F9A}"/>
              </a:ext>
            </a:extLst>
          </p:cNvPr>
          <p:cNvSpPr>
            <a:spLocks noGrp="1"/>
          </p:cNvSpPr>
          <p:nvPr>
            <p:ph type="sldNum" sz="quarter" idx="12"/>
          </p:nvPr>
        </p:nvSpPr>
        <p:spPr/>
        <p:txBody>
          <a:bodyPr/>
          <a:lstStyle/>
          <a:p>
            <a:fld id="{27CE633F-9882-4A5C-83A2-1109D0C73261}" type="slidenum">
              <a:rPr lang="en-US" smtClean="0"/>
              <a:t>‹#›</a:t>
            </a:fld>
            <a:endParaRPr lang="en-US"/>
          </a:p>
        </p:txBody>
      </p:sp>
      <p:cxnSp>
        <p:nvCxnSpPr>
          <p:cNvPr id="7" name="Straight Connector 6">
            <a:extLst>
              <a:ext uri="{FF2B5EF4-FFF2-40B4-BE49-F238E27FC236}">
                <a16:creationId xmlns:a16="http://schemas.microsoft.com/office/drawing/2014/main" id="{0AEB5C65-83BB-4EBD-AD22-EDA8489D0F5D}"/>
              </a:ext>
            </a:extLst>
          </p:cNvPr>
          <p:cNvCxnSpPr>
            <a:cxnSpLocks/>
          </p:cNvCxnSpPr>
          <p:nvPr/>
        </p:nvCxnSpPr>
        <p:spPr>
          <a:xfrm flipV="1">
            <a:off x="8313" y="261865"/>
            <a:ext cx="11353802" cy="1"/>
          </a:xfrm>
          <a:prstGeom prst="line">
            <a:avLst/>
          </a:prstGeom>
          <a:ln w="25400" cap="sq">
            <a:gradFill flip="none" rotWithShape="1">
              <a:gsLst>
                <a:gs pos="0">
                  <a:schemeClr val="accent2"/>
                </a:gs>
                <a:gs pos="100000">
                  <a:schemeClr val="accent4"/>
                </a:gs>
              </a:gsLst>
              <a:lin ang="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75831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FDA4224-F4E4-47A4-ACF7-2317493908A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1679907-DC49-4B86-A34C-C97DBC26A9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DBC8A0-34FC-4B6E-B42B-A721267D89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1" i="0" cap="all" spc="100" baseline="0">
                <a:solidFill>
                  <a:schemeClr val="tx1">
                    <a:tint val="75000"/>
                  </a:schemeClr>
                </a:solidFill>
              </a:defRPr>
            </a:lvl1pPr>
          </a:lstStyle>
          <a:p>
            <a:fld id="{6A4B53A7-3209-46A6-9454-F38EAC8F11E7}" type="datetimeFigureOut">
              <a:rPr lang="en-US" smtClean="0"/>
              <a:pPr/>
              <a:t>12/7/25</a:t>
            </a:fld>
            <a:endParaRPr lang="en-US" dirty="0"/>
          </a:p>
        </p:txBody>
      </p:sp>
      <p:sp>
        <p:nvSpPr>
          <p:cNvPr id="5" name="Footer Placeholder 4">
            <a:extLst>
              <a:ext uri="{FF2B5EF4-FFF2-40B4-BE49-F238E27FC236}">
                <a16:creationId xmlns:a16="http://schemas.microsoft.com/office/drawing/2014/main" id="{609AC0B6-4CC4-4E41-8A4D-F62E17F285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1" i="0" cap="all" spc="100" baseline="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6C0E9BD-90BD-46AE-8A0D-06796ADB76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1" i="0" cap="all" spc="100" baseline="0">
                <a:solidFill>
                  <a:schemeClr val="tx1">
                    <a:tint val="75000"/>
                  </a:schemeClr>
                </a:solidFill>
              </a:defRPr>
            </a:lvl1pPr>
          </a:lstStyle>
          <a:p>
            <a:fld id="{27CE633F-9882-4A5C-83A2-1109D0C73261}" type="slidenum">
              <a:rPr lang="en-US" smtClean="0"/>
              <a:pPr/>
              <a:t>‹#›</a:t>
            </a:fld>
            <a:endParaRPr lang="en-US"/>
          </a:p>
        </p:txBody>
      </p:sp>
    </p:spTree>
    <p:extLst>
      <p:ext uri="{BB962C8B-B14F-4D97-AF65-F5344CB8AC3E}">
        <p14:creationId xmlns:p14="http://schemas.microsoft.com/office/powerpoint/2010/main" val="19801973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24" r:id="rId6"/>
    <p:sldLayoutId id="2147483719" r:id="rId7"/>
    <p:sldLayoutId id="2147483720" r:id="rId8"/>
    <p:sldLayoutId id="2147483721" r:id="rId9"/>
    <p:sldLayoutId id="2147483723" r:id="rId10"/>
    <p:sldLayoutId id="214748372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58B3569-73B2-4D05-8E95-886A6EE1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100000">
                <a:schemeClr val="accent4"/>
              </a:gs>
              <a:gs pos="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546512-EDD6-2C68-8F5B-8E9F4426C480}"/>
              </a:ext>
            </a:extLst>
          </p:cNvPr>
          <p:cNvSpPr>
            <a:spLocks noGrp="1"/>
          </p:cNvSpPr>
          <p:nvPr>
            <p:ph type="ctrTitle"/>
          </p:nvPr>
        </p:nvSpPr>
        <p:spPr>
          <a:xfrm>
            <a:off x="793159" y="1377146"/>
            <a:ext cx="4076460" cy="3626217"/>
          </a:xfrm>
        </p:spPr>
        <p:txBody>
          <a:bodyPr anchor="b">
            <a:normAutofit/>
          </a:bodyPr>
          <a:lstStyle/>
          <a:p>
            <a:pPr algn="r"/>
            <a:r>
              <a:rPr lang="en-US" sz="4000" dirty="0">
                <a:solidFill>
                  <a:schemeClr val="bg1"/>
                </a:solidFill>
              </a:rPr>
              <a:t>Final Kaggle Competition: Don’t get kicked </a:t>
            </a:r>
          </a:p>
        </p:txBody>
      </p:sp>
      <p:sp>
        <p:nvSpPr>
          <p:cNvPr id="3" name="Subtitle 2">
            <a:extLst>
              <a:ext uri="{FF2B5EF4-FFF2-40B4-BE49-F238E27FC236}">
                <a16:creationId xmlns:a16="http://schemas.microsoft.com/office/drawing/2014/main" id="{FE7193EE-BF54-DA40-47C2-BF6400EEAE54}"/>
              </a:ext>
            </a:extLst>
          </p:cNvPr>
          <p:cNvSpPr>
            <a:spLocks noGrp="1"/>
          </p:cNvSpPr>
          <p:nvPr>
            <p:ph type="subTitle" idx="1"/>
          </p:nvPr>
        </p:nvSpPr>
        <p:spPr>
          <a:xfrm>
            <a:off x="793159" y="5170453"/>
            <a:ext cx="4076458" cy="990197"/>
          </a:xfrm>
        </p:spPr>
        <p:txBody>
          <a:bodyPr>
            <a:normAutofit/>
          </a:bodyPr>
          <a:lstStyle/>
          <a:p>
            <a:pPr algn="r"/>
            <a:r>
              <a:rPr lang="en-US" dirty="0">
                <a:solidFill>
                  <a:schemeClr val="bg1"/>
                </a:solidFill>
              </a:rPr>
              <a:t>By: Angelina Camen</a:t>
            </a:r>
          </a:p>
        </p:txBody>
      </p:sp>
      <p:pic>
        <p:nvPicPr>
          <p:cNvPr id="4" name="Picture 3">
            <a:extLst>
              <a:ext uri="{FF2B5EF4-FFF2-40B4-BE49-F238E27FC236}">
                <a16:creationId xmlns:a16="http://schemas.microsoft.com/office/drawing/2014/main" id="{8E505608-B603-4BB1-0E22-E26F37C33EFA}"/>
              </a:ext>
            </a:extLst>
          </p:cNvPr>
          <p:cNvPicPr>
            <a:picLocks noChangeAspect="1"/>
          </p:cNvPicPr>
          <p:nvPr/>
        </p:nvPicPr>
        <p:blipFill>
          <a:blip r:embed="rId2">
            <a:duotone>
              <a:schemeClr val="accent2">
                <a:shade val="45000"/>
                <a:satMod val="135000"/>
              </a:schemeClr>
              <a:prstClr val="white"/>
            </a:duotone>
            <a:alphaModFix amt="51000"/>
          </a:blip>
          <a:srcRect l="21435" r="-1" b="-1"/>
          <a:stretch>
            <a:fillRect/>
          </a:stretch>
        </p:blipFill>
        <p:spPr>
          <a:xfrm>
            <a:off x="5457027" y="10"/>
            <a:ext cx="6734973" cy="6857990"/>
          </a:xfrm>
          <a:prstGeom prst="rect">
            <a:avLst/>
          </a:prstGeom>
        </p:spPr>
      </p:pic>
      <p:sp>
        <p:nvSpPr>
          <p:cNvPr id="11" name="Graphic 17">
            <a:extLst>
              <a:ext uri="{FF2B5EF4-FFF2-40B4-BE49-F238E27FC236}">
                <a16:creationId xmlns:a16="http://schemas.microsoft.com/office/drawing/2014/main" id="{B71758F4-3F46-45DA-8AC5-4E508DA08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57736" y="815001"/>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bg1"/>
          </a:solidFill>
          <a:ln w="603" cap="flat">
            <a:noFill/>
            <a:prstDash val="solid"/>
            <a:miter/>
          </a:ln>
        </p:spPr>
        <p:txBody>
          <a:bodyPr rtlCol="0" anchor="ctr"/>
          <a:lstStyle/>
          <a:p>
            <a:endParaRPr lang="en-US"/>
          </a:p>
        </p:txBody>
      </p:sp>
      <p:sp>
        <p:nvSpPr>
          <p:cNvPr id="13" name="Graphic 15">
            <a:extLst>
              <a:ext uri="{FF2B5EF4-FFF2-40B4-BE49-F238E27FC236}">
                <a16:creationId xmlns:a16="http://schemas.microsoft.com/office/drawing/2014/main" id="{8550FED7-7C32-42BB-98DB-30272A6331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16516" y="1044297"/>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bg1"/>
          </a:solidFill>
          <a:ln w="422" cap="flat">
            <a:noFill/>
            <a:prstDash val="solid"/>
            <a:miter/>
          </a:ln>
        </p:spPr>
        <p:txBody>
          <a:bodyPr rtlCol="0" anchor="ctr"/>
          <a:lstStyle/>
          <a:p>
            <a:endParaRPr lang="en-US"/>
          </a:p>
        </p:txBody>
      </p:sp>
      <p:cxnSp>
        <p:nvCxnSpPr>
          <p:cNvPr id="15" name="Straight Connector 14">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274341"/>
            <a:ext cx="11353800" cy="0"/>
          </a:xfrm>
          <a:prstGeom prst="line">
            <a:avLst/>
          </a:prstGeom>
          <a:ln w="25400" cap="sq">
            <a:solidFill>
              <a:schemeClr val="bg1"/>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2457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BE203-184E-7191-E1C4-E373B4516217}"/>
              </a:ext>
            </a:extLst>
          </p:cNvPr>
          <p:cNvSpPr>
            <a:spLocks noGrp="1"/>
          </p:cNvSpPr>
          <p:nvPr>
            <p:ph type="title"/>
          </p:nvPr>
        </p:nvSpPr>
        <p:spPr/>
        <p:txBody>
          <a:bodyPr/>
          <a:lstStyle/>
          <a:p>
            <a:r>
              <a:rPr lang="en-US" dirty="0"/>
              <a:t>Problem Background</a:t>
            </a:r>
          </a:p>
        </p:txBody>
      </p:sp>
      <p:sp>
        <p:nvSpPr>
          <p:cNvPr id="3" name="Content Placeholder 2">
            <a:extLst>
              <a:ext uri="{FF2B5EF4-FFF2-40B4-BE49-F238E27FC236}">
                <a16:creationId xmlns:a16="http://schemas.microsoft.com/office/drawing/2014/main" id="{71CEF869-A6E4-7051-8E47-AB216C185276}"/>
              </a:ext>
            </a:extLst>
          </p:cNvPr>
          <p:cNvSpPr>
            <a:spLocks noGrp="1"/>
          </p:cNvSpPr>
          <p:nvPr>
            <p:ph idx="1"/>
          </p:nvPr>
        </p:nvSpPr>
        <p:spPr/>
        <p:txBody>
          <a:bodyPr>
            <a:normAutofit/>
          </a:bodyPr>
          <a:lstStyle/>
          <a:p>
            <a:r>
              <a:rPr lang="en-US" sz="2000" dirty="0"/>
              <a:t>Auto dealerships face significant financial risk when purchasing used cars at auctions. Some vehicles arrive with hidden issues such as odometer tampering, unfixable mechanical problems, or title complications that prevent them from being sold. </a:t>
            </a:r>
          </a:p>
          <a:p>
            <a:r>
              <a:rPr lang="en-US" sz="2000" dirty="0"/>
              <a:t>These costly problem vehicles are known as </a:t>
            </a:r>
            <a:r>
              <a:rPr lang="en-US" sz="2000" b="1" dirty="0"/>
              <a:t>“kicks.”</a:t>
            </a:r>
          </a:p>
          <a:p>
            <a:r>
              <a:rPr lang="en-US" sz="2000" dirty="0"/>
              <a:t>Because kicks lead to transportation losses, wasted repair costs, and reduced resale value, dealerships benefit greatly from identifying high-risk vehicles before buying them.</a:t>
            </a:r>
          </a:p>
          <a:p>
            <a:r>
              <a:rPr lang="en-US" sz="2000" dirty="0"/>
              <a:t>GOAL: To predict whether a purchased auction vehicle will be a “bad buy,” helping dealerships make smarter and safer inventory decisions</a:t>
            </a:r>
            <a:r>
              <a:rPr lang="en-US" dirty="0"/>
              <a:t>.</a:t>
            </a:r>
          </a:p>
          <a:p>
            <a:endParaRPr lang="en-US" dirty="0"/>
          </a:p>
        </p:txBody>
      </p:sp>
    </p:spTree>
    <p:extLst>
      <p:ext uri="{BB962C8B-B14F-4D97-AF65-F5344CB8AC3E}">
        <p14:creationId xmlns:p14="http://schemas.microsoft.com/office/powerpoint/2010/main" val="38959637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B7169B8-2507-43F4-A148-FA791CD9C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7695CA-F04F-C770-83E5-09AB8077B136}"/>
              </a:ext>
            </a:extLst>
          </p:cNvPr>
          <p:cNvSpPr>
            <a:spLocks noGrp="1"/>
          </p:cNvSpPr>
          <p:nvPr>
            <p:ph type="title"/>
          </p:nvPr>
        </p:nvSpPr>
        <p:spPr>
          <a:xfrm>
            <a:off x="838199" y="3619967"/>
            <a:ext cx="5257801" cy="2413971"/>
          </a:xfrm>
        </p:spPr>
        <p:txBody>
          <a:bodyPr vert="horz" lIns="91440" tIns="45720" rIns="91440" bIns="45720" rtlCol="0" anchor="b">
            <a:normAutofit/>
          </a:bodyPr>
          <a:lstStyle/>
          <a:p>
            <a:r>
              <a:rPr lang="en-US" sz="5600" kern="1200">
                <a:solidFill>
                  <a:schemeClr val="tx1"/>
                </a:solidFill>
                <a:latin typeface="+mj-lt"/>
                <a:ea typeface="+mj-ea"/>
                <a:cs typeface="+mj-cs"/>
              </a:rPr>
              <a:t>Description of Feature Engineering</a:t>
            </a:r>
          </a:p>
        </p:txBody>
      </p:sp>
      <p:sp>
        <p:nvSpPr>
          <p:cNvPr id="20"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1620" y="63589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4"/>
          </a:solidFill>
          <a:ln w="603" cap="flat">
            <a:noFill/>
            <a:prstDash val="solid"/>
            <a:miter/>
          </a:ln>
        </p:spPr>
        <p:txBody>
          <a:bodyPr rtlCol="0" anchor="ctr"/>
          <a:lstStyle/>
          <a:p>
            <a:endParaRPr lang="en-US"/>
          </a:p>
        </p:txBody>
      </p:sp>
      <p:sp>
        <p:nvSpPr>
          <p:cNvPr id="21"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2733" y="76951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solidFill>
          <a:ln w="422" cap="flat">
            <a:noFill/>
            <a:prstDash val="solid"/>
            <a:miter/>
          </a:ln>
        </p:spPr>
        <p:txBody>
          <a:bodyPr rtlCol="0" anchor="ctr"/>
          <a:lstStyle/>
          <a:p>
            <a:endParaRPr lang="en-US"/>
          </a:p>
        </p:txBody>
      </p:sp>
      <p:cxnSp>
        <p:nvCxnSpPr>
          <p:cNvPr id="17" name="Straight Connector 16">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23622" y="906628"/>
            <a:ext cx="0" cy="5942494"/>
          </a:xfrm>
          <a:prstGeom prst="line">
            <a:avLst/>
          </a:prstGeom>
          <a:ln w="25400" cap="sq">
            <a:gradFill flip="none" rotWithShape="1">
              <a:gsLst>
                <a:gs pos="0">
                  <a:schemeClr val="accent2"/>
                </a:gs>
                <a:gs pos="100000">
                  <a:schemeClr val="accent4"/>
                </a:gs>
              </a:gsLst>
              <a:lin ang="16200000" scaled="1"/>
              <a:tileRect/>
            </a:gradFill>
            <a:bevel/>
          </a:ln>
        </p:spPr>
        <p:style>
          <a:lnRef idx="1">
            <a:schemeClr val="accent1"/>
          </a:lnRef>
          <a:fillRef idx="0">
            <a:schemeClr val="accent1"/>
          </a:fillRef>
          <a:effectRef idx="0">
            <a:schemeClr val="accent1"/>
          </a:effectRef>
          <a:fontRef idx="minor">
            <a:schemeClr val="tx1"/>
          </a:fontRef>
        </p:style>
      </p:cxnSp>
      <p:pic>
        <p:nvPicPr>
          <p:cNvPr id="5" name="Content Placeholder 4" descr="A computer code with text&#10;&#10;AI-generated content may be incorrect.">
            <a:extLst>
              <a:ext uri="{FF2B5EF4-FFF2-40B4-BE49-F238E27FC236}">
                <a16:creationId xmlns:a16="http://schemas.microsoft.com/office/drawing/2014/main" id="{554DC2EE-90C0-CC57-E8DC-0105BC729A7B}"/>
              </a:ext>
            </a:extLst>
          </p:cNvPr>
          <p:cNvPicPr>
            <a:picLocks noGrp="1" noChangeAspect="1"/>
          </p:cNvPicPr>
          <p:nvPr>
            <p:ph idx="1"/>
          </p:nvPr>
        </p:nvPicPr>
        <p:blipFill>
          <a:blip r:embed="rId2"/>
          <a:stretch>
            <a:fillRect/>
          </a:stretch>
        </p:blipFill>
        <p:spPr>
          <a:xfrm>
            <a:off x="859397" y="861824"/>
            <a:ext cx="4691846" cy="2240355"/>
          </a:xfrm>
          <a:prstGeom prst="rect">
            <a:avLst/>
          </a:prstGeom>
        </p:spPr>
      </p:pic>
      <p:sp>
        <p:nvSpPr>
          <p:cNvPr id="19" name="Graphic 12">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841870" y="1359722"/>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4"/>
          </a:solidFill>
          <a:ln w="610" cap="flat">
            <a:noFill/>
            <a:prstDash val="solid"/>
            <a:miter/>
          </a:ln>
        </p:spPr>
        <p:txBody>
          <a:bodyPr rtlCol="0" anchor="ctr"/>
          <a:lstStyle/>
          <a:p>
            <a:endParaRPr lang="en-US"/>
          </a:p>
        </p:txBody>
      </p:sp>
      <p:sp>
        <p:nvSpPr>
          <p:cNvPr id="6" name="TextBox 5">
            <a:extLst>
              <a:ext uri="{FF2B5EF4-FFF2-40B4-BE49-F238E27FC236}">
                <a16:creationId xmlns:a16="http://schemas.microsoft.com/office/drawing/2014/main" id="{DCB8EB48-FCA0-87EF-38E1-A6CE89FAE85E}"/>
              </a:ext>
            </a:extLst>
          </p:cNvPr>
          <p:cNvSpPr txBox="1"/>
          <p:nvPr/>
        </p:nvSpPr>
        <p:spPr>
          <a:xfrm>
            <a:off x="6410640" y="1487436"/>
            <a:ext cx="4853873" cy="5147028"/>
          </a:xfrm>
          <a:prstGeom prst="rect">
            <a:avLst/>
          </a:prstGeom>
        </p:spPr>
        <p:txBody>
          <a:bodyPr vert="horz" lIns="91440" tIns="45720" rIns="91440" bIns="45720" rtlCol="0" anchor="b">
            <a:noAutofit/>
          </a:bodyPr>
          <a:lstStyle/>
          <a:p>
            <a:pPr indent="-228600">
              <a:lnSpc>
                <a:spcPct val="90000"/>
              </a:lnSpc>
              <a:spcAft>
                <a:spcPts val="600"/>
              </a:spcAft>
              <a:buFont typeface="Arial" panose="020B0604020202020204" pitchFamily="34" charset="0"/>
              <a:buChar char="•"/>
            </a:pPr>
            <a:r>
              <a:rPr lang="en-US" sz="1000" b="1" dirty="0"/>
              <a:t>Identify ID Column</a:t>
            </a:r>
            <a:br>
              <a:rPr lang="en-US" sz="1000" dirty="0"/>
            </a:br>
            <a:r>
              <a:rPr lang="en-US" sz="1000" dirty="0"/>
              <a:t>- </a:t>
            </a:r>
            <a:r>
              <a:rPr lang="en-US" sz="1000" i="1" dirty="0" err="1"/>
              <a:t>RefId</a:t>
            </a:r>
            <a:r>
              <a:rPr lang="en-US" sz="1000" dirty="0"/>
              <a:t> is marked as an identifier so it is not used as a predictor in the model.</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Convert Key Variables to Factors</a:t>
            </a:r>
            <a:br>
              <a:rPr lang="en-US" sz="1000" dirty="0"/>
            </a:br>
            <a:r>
              <a:rPr lang="en-US" sz="1000" dirty="0"/>
              <a:t>- Important categorical fields such as </a:t>
            </a:r>
            <a:r>
              <a:rPr lang="en-US" sz="1000" i="1" dirty="0" err="1"/>
              <a:t>IsOnlineSale</a:t>
            </a:r>
            <a:r>
              <a:rPr lang="en-US" sz="1000" dirty="0"/>
              <a:t> and all other nominal predictors are converted to factors so the model treats them as categories instead of numbers.</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Remove Low-Value or Redundant Columns</a:t>
            </a:r>
            <a:br>
              <a:rPr lang="en-US" sz="1000" dirty="0"/>
            </a:br>
            <a:r>
              <a:rPr lang="en-US" sz="1000" dirty="0"/>
              <a:t>- Variables that offered little predictive power or introduced noise—such as </a:t>
            </a:r>
            <a:r>
              <a:rPr lang="en-US" sz="1000" i="1" dirty="0" err="1"/>
              <a:t>VehYear</a:t>
            </a:r>
            <a:r>
              <a:rPr lang="en-US" sz="1000" dirty="0"/>
              <a:t>, </a:t>
            </a:r>
            <a:r>
              <a:rPr lang="en-US" sz="1000" i="1" dirty="0"/>
              <a:t>Model</a:t>
            </a:r>
            <a:r>
              <a:rPr lang="en-US" sz="1000" dirty="0"/>
              <a:t>, </a:t>
            </a:r>
            <a:r>
              <a:rPr lang="en-US" sz="1000" i="1" dirty="0"/>
              <a:t>Trim</a:t>
            </a:r>
            <a:r>
              <a:rPr lang="en-US" sz="1000" dirty="0"/>
              <a:t>, and others—were removed to simplify the model and improve performance.</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Handle Highly Correlated Numeric Predictors</a:t>
            </a:r>
            <a:br>
              <a:rPr lang="en-US" sz="1000" dirty="0"/>
            </a:br>
            <a:r>
              <a:rPr lang="en-US" sz="1000" dirty="0"/>
              <a:t>- Numeric predictors with a correlation above 0.7 were removed to reduce multicollinearity and prevent redundant information from confusing the model.</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Combine Rare Categories</a:t>
            </a:r>
            <a:br>
              <a:rPr lang="en-US" sz="1000" dirty="0"/>
            </a:br>
            <a:r>
              <a:rPr lang="en-US" sz="1000" dirty="0"/>
              <a:t>- Rare factor levels (threshold = 0.09) were grouped into an “Other” category to improve model stability.</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Prepare for Unseen Categories</a:t>
            </a:r>
            <a:br>
              <a:rPr lang="en-US" sz="1000" dirty="0"/>
            </a:br>
            <a:r>
              <a:rPr lang="en-US" sz="1000" dirty="0"/>
              <a:t>- </a:t>
            </a:r>
            <a:r>
              <a:rPr lang="en-US" sz="1000" dirty="0" err="1"/>
              <a:t>step_novel</a:t>
            </a:r>
            <a:r>
              <a:rPr lang="en-US" sz="1000" dirty="0"/>
              <a:t>() and </a:t>
            </a:r>
            <a:r>
              <a:rPr lang="en-US" sz="1000" dirty="0" err="1"/>
              <a:t>step_unknown</a:t>
            </a:r>
            <a:r>
              <a:rPr lang="en-US" sz="1000" dirty="0"/>
              <a:t>() ensure the model can handle new or missing category values that appear in the test set.</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Convert Categorical Variables to Dummy Variables</a:t>
            </a:r>
            <a:br>
              <a:rPr lang="en-US" sz="1000" dirty="0"/>
            </a:br>
            <a:r>
              <a:rPr lang="en-US" sz="1000" dirty="0"/>
              <a:t>- One-hot encoding (</a:t>
            </a:r>
            <a:r>
              <a:rPr lang="en-US" sz="1000" dirty="0" err="1"/>
              <a:t>step_dummy</a:t>
            </a:r>
            <a:r>
              <a:rPr lang="en-US" sz="1000" dirty="0"/>
              <a:t>()) transforms all factor variables into numeric indicator columns required by many machine learning models.</a:t>
            </a:r>
          </a:p>
          <a:p>
            <a:pPr indent="-228600">
              <a:lnSpc>
                <a:spcPct val="90000"/>
              </a:lnSpc>
              <a:spcAft>
                <a:spcPts val="600"/>
              </a:spcAft>
              <a:buFont typeface="Arial" panose="020B0604020202020204" pitchFamily="34" charset="0"/>
              <a:buChar char="•"/>
            </a:pPr>
            <a:endParaRPr lang="en-US" sz="1000" dirty="0"/>
          </a:p>
          <a:p>
            <a:pPr indent="-228600">
              <a:lnSpc>
                <a:spcPct val="90000"/>
              </a:lnSpc>
              <a:spcAft>
                <a:spcPts val="600"/>
              </a:spcAft>
              <a:buFont typeface="Arial" panose="020B0604020202020204" pitchFamily="34" charset="0"/>
              <a:buChar char="•"/>
            </a:pPr>
            <a:r>
              <a:rPr lang="en-US" sz="1000" b="1" dirty="0"/>
              <a:t>Impute Missing Numeric Values</a:t>
            </a:r>
            <a:br>
              <a:rPr lang="en-US" sz="1000" dirty="0"/>
            </a:br>
            <a:r>
              <a:rPr lang="en-US" sz="1000" dirty="0"/>
              <a:t>- Missing values in numeric predictors are filled using median imputation, a robust method that avoids distortion from outliers.</a:t>
            </a:r>
          </a:p>
          <a:p>
            <a:pPr indent="-228600">
              <a:lnSpc>
                <a:spcPct val="90000"/>
              </a:lnSpc>
              <a:spcAft>
                <a:spcPts val="600"/>
              </a:spcAft>
              <a:buFont typeface="Arial" panose="020B0604020202020204" pitchFamily="34" charset="0"/>
              <a:buChar char="•"/>
            </a:pPr>
            <a:endParaRPr lang="en-US" sz="1100" dirty="0"/>
          </a:p>
        </p:txBody>
      </p:sp>
    </p:spTree>
    <p:extLst>
      <p:ext uri="{BB962C8B-B14F-4D97-AF65-F5344CB8AC3E}">
        <p14:creationId xmlns:p14="http://schemas.microsoft.com/office/powerpoint/2010/main" val="499525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C373-305E-B8E3-4A15-B5F73E7BA576}"/>
              </a:ext>
            </a:extLst>
          </p:cNvPr>
          <p:cNvSpPr>
            <a:spLocks noGrp="1"/>
          </p:cNvSpPr>
          <p:nvPr>
            <p:ph type="title"/>
          </p:nvPr>
        </p:nvSpPr>
        <p:spPr/>
        <p:txBody>
          <a:bodyPr/>
          <a:lstStyle/>
          <a:p>
            <a:r>
              <a:rPr lang="en-US" dirty="0"/>
              <a:t>Model Comparison</a:t>
            </a:r>
          </a:p>
        </p:txBody>
      </p:sp>
      <p:graphicFrame>
        <p:nvGraphicFramePr>
          <p:cNvPr id="4" name="Content Placeholder 3">
            <a:extLst>
              <a:ext uri="{FF2B5EF4-FFF2-40B4-BE49-F238E27FC236}">
                <a16:creationId xmlns:a16="http://schemas.microsoft.com/office/drawing/2014/main" id="{5E540159-19FF-33F4-4F49-B0825F2163B4}"/>
              </a:ext>
            </a:extLst>
          </p:cNvPr>
          <p:cNvGraphicFramePr>
            <a:graphicFrameLocks noGrp="1"/>
          </p:cNvGraphicFramePr>
          <p:nvPr>
            <p:ph idx="1"/>
            <p:extLst>
              <p:ext uri="{D42A27DB-BD31-4B8C-83A1-F6EECF244321}">
                <p14:modId xmlns:p14="http://schemas.microsoft.com/office/powerpoint/2010/main" val="2913643571"/>
              </p:ext>
            </p:extLst>
          </p:nvPr>
        </p:nvGraphicFramePr>
        <p:xfrm>
          <a:off x="838200" y="1825624"/>
          <a:ext cx="10515597" cy="4729063"/>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178814137"/>
                    </a:ext>
                  </a:extLst>
                </a:gridCol>
                <a:gridCol w="3505199">
                  <a:extLst>
                    <a:ext uri="{9D8B030D-6E8A-4147-A177-3AD203B41FA5}">
                      <a16:colId xmlns:a16="http://schemas.microsoft.com/office/drawing/2014/main" val="2373764766"/>
                    </a:ext>
                  </a:extLst>
                </a:gridCol>
                <a:gridCol w="3505199">
                  <a:extLst>
                    <a:ext uri="{9D8B030D-6E8A-4147-A177-3AD203B41FA5}">
                      <a16:colId xmlns:a16="http://schemas.microsoft.com/office/drawing/2014/main" val="1114396990"/>
                    </a:ext>
                  </a:extLst>
                </a:gridCol>
              </a:tblGrid>
              <a:tr h="11629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Model 1: Random Forest + </a:t>
                      </a:r>
                      <a:r>
                        <a:rPr lang="en-US" b="1" dirty="0" err="1"/>
                        <a:t>LightGBM</a:t>
                      </a:r>
                      <a:r>
                        <a:rPr lang="en-US" b="1" dirty="0"/>
                        <a:t> Stacked Ensemble</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Model 2: BART (Bayesian Additive Regression Trees)</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Model 3: </a:t>
                      </a:r>
                      <a:r>
                        <a:rPr lang="en-US" b="1" dirty="0" err="1"/>
                        <a:t>XGBoost</a:t>
                      </a:r>
                      <a:r>
                        <a:rPr lang="en-US" b="1" dirty="0"/>
                        <a:t> (Boosted Trees)</a:t>
                      </a:r>
                    </a:p>
                    <a:p>
                      <a:endParaRPr lang="en-US" dirty="0"/>
                    </a:p>
                  </a:txBody>
                  <a:tcPr/>
                </a:tc>
                <a:extLst>
                  <a:ext uri="{0D108BD9-81ED-4DB2-BD59-A6C34878D82A}">
                    <a16:rowId xmlns:a16="http://schemas.microsoft.com/office/drawing/2014/main" val="1817443623"/>
                  </a:ext>
                </a:extLst>
              </a:tr>
              <a:tr h="2394138">
                <a:tc>
                  <a:txBody>
                    <a:bodyPr/>
                    <a:lstStyle/>
                    <a:p>
                      <a:pPr marL="285750" indent="-285750">
                        <a:buFont typeface="Arial" panose="020B0604020202020204" pitchFamily="34" charset="0"/>
                        <a:buChar char="•"/>
                      </a:pPr>
                      <a:r>
                        <a:rPr lang="en-US" sz="1600" dirty="0"/>
                        <a:t>Combined two powerful learners (Random Forest + </a:t>
                      </a:r>
                      <a:r>
                        <a:rPr lang="en-US" sz="1600" dirty="0" err="1"/>
                        <a:t>LightGBM</a:t>
                      </a:r>
                      <a:r>
                        <a:rPr lang="en-US" sz="1600" dirty="0"/>
                        <a:t>) using stacking.</a:t>
                      </a:r>
                    </a:p>
                    <a:p>
                      <a:pPr marL="285750" indent="-285750">
                        <a:buFont typeface="Arial" panose="020B0604020202020204" pitchFamily="34" charset="0"/>
                        <a:buChar char="•"/>
                      </a:pPr>
                      <a:r>
                        <a:rPr lang="en-US" sz="1600" dirty="0"/>
                        <a:t>Used cross-validation and random grid search for efficient tuning.</a:t>
                      </a:r>
                    </a:p>
                    <a:p>
                      <a:pPr marL="285750" indent="-285750">
                        <a:buFont typeface="Arial" panose="020B0604020202020204" pitchFamily="34" charset="0"/>
                        <a:buChar char="•"/>
                      </a:pPr>
                      <a:r>
                        <a:rPr lang="en-US" sz="1600" dirty="0"/>
                        <a:t>Produced good overall performance, but slightly below the target.</a:t>
                      </a:r>
                    </a:p>
                    <a:p>
                      <a:pPr marL="285750" indent="-285750">
                        <a:buFont typeface="Arial" panose="020B0604020202020204" pitchFamily="34" charset="0"/>
                        <a:buChar char="•"/>
                      </a:pPr>
                      <a:r>
                        <a:rPr lang="en-US" sz="1600" b="1" dirty="0"/>
                        <a:t>Submission Score:</a:t>
                      </a:r>
                      <a:r>
                        <a:rPr lang="en-US" sz="1600" dirty="0"/>
                        <a:t> </a:t>
                      </a:r>
                      <a:r>
                        <a:rPr lang="en-US" sz="1600" b="1" dirty="0"/>
                        <a:t>0.23216</a:t>
                      </a:r>
                      <a:endParaRPr lang="en-US" sz="1600" dirty="0"/>
                    </a:p>
                  </a:txBody>
                  <a:tcPr/>
                </a:tc>
                <a:tc>
                  <a:txBody>
                    <a:bodyPr/>
                    <a:lstStyle/>
                    <a:p>
                      <a:pPr marL="285750" indent="-285750">
                        <a:buFont typeface="Arial" panose="020B0604020202020204" pitchFamily="34" charset="0"/>
                        <a:buChar char="•"/>
                      </a:pPr>
                      <a:r>
                        <a:rPr lang="en-US" sz="1600" dirty="0"/>
                        <a:t>Used BART with tuned tree counts to capture nonlinear structure in the data.</a:t>
                      </a:r>
                    </a:p>
                    <a:p>
                      <a:pPr marL="285750" indent="-285750">
                        <a:buFont typeface="Arial" panose="020B0604020202020204" pitchFamily="34" charset="0"/>
                        <a:buChar char="•"/>
                      </a:pPr>
                      <a:r>
                        <a:rPr lang="en-US" sz="1600" dirty="0"/>
                        <a:t>Included a simplified but carefully prepared recipe with dummy variables, correlation filtering, and median imputation.</a:t>
                      </a:r>
                    </a:p>
                    <a:p>
                      <a:pPr marL="285750" indent="-285750">
                        <a:buFont typeface="Arial" panose="020B0604020202020204" pitchFamily="34" charset="0"/>
                        <a:buChar char="•"/>
                      </a:pPr>
                      <a:r>
                        <a:rPr lang="en-US" sz="1600" dirty="0"/>
                        <a:t>BART’s additive tree structure handled complex interactions particularly well for this dataset.</a:t>
                      </a:r>
                    </a:p>
                    <a:p>
                      <a:pPr marL="285750" indent="-285750">
                        <a:buFont typeface="Arial" panose="020B0604020202020204" pitchFamily="34" charset="0"/>
                        <a:buChar char="•"/>
                      </a:pPr>
                      <a:r>
                        <a:rPr lang="en-US" sz="1600" b="1" dirty="0"/>
                        <a:t>Leaderboard Score:</a:t>
                      </a:r>
                      <a:r>
                        <a:rPr lang="en-US" sz="1600" dirty="0"/>
                        <a:t> </a:t>
                      </a:r>
                      <a:r>
                        <a:rPr lang="en-US" sz="1600" b="1" dirty="0"/>
                        <a:t>0.23576</a:t>
                      </a:r>
                      <a:endParaRPr lang="en-US" sz="1600" dirty="0"/>
                    </a:p>
                  </a:txBody>
                  <a:tcPr/>
                </a:tc>
                <a:tc>
                  <a:txBody>
                    <a:bodyPr/>
                    <a:lstStyle/>
                    <a:p>
                      <a:pPr marL="285750" indent="-285750">
                        <a:buFont typeface="Arial" panose="020B0604020202020204" pitchFamily="34" charset="0"/>
                        <a:buChar char="•"/>
                      </a:pPr>
                      <a:r>
                        <a:rPr lang="en-US" sz="1600" dirty="0"/>
                        <a:t>Gradient boosting model tuned with Latin hypercube sampling (</a:t>
                      </a:r>
                      <a:r>
                        <a:rPr lang="en-US" sz="1800" kern="1200" dirty="0">
                          <a:solidFill>
                            <a:schemeClr val="dk1"/>
                          </a:solidFill>
                          <a:latin typeface="+mn-lt"/>
                          <a:ea typeface="+mn-ea"/>
                          <a:cs typeface="+mn-cs"/>
                        </a:rPr>
                        <a:t>trees</a:t>
                      </a:r>
                      <a:r>
                        <a:rPr lang="en-US" sz="1600" dirty="0"/>
                        <a:t>, </a:t>
                      </a:r>
                      <a:r>
                        <a:rPr lang="en-US" sz="1800" kern="1200" dirty="0" err="1">
                          <a:solidFill>
                            <a:schemeClr val="dk1"/>
                          </a:solidFill>
                          <a:latin typeface="+mn-lt"/>
                          <a:ea typeface="+mn-ea"/>
                          <a:cs typeface="+mn-cs"/>
                        </a:rPr>
                        <a:t>learn_rate</a:t>
                      </a:r>
                      <a:r>
                        <a:rPr lang="en-US" sz="1600" dirty="0"/>
                        <a:t>, </a:t>
                      </a:r>
                      <a:r>
                        <a:rPr lang="en-US" sz="1800" kern="1200" dirty="0">
                          <a:solidFill>
                            <a:schemeClr val="dk1"/>
                          </a:solidFill>
                          <a:latin typeface="+mn-lt"/>
                          <a:ea typeface="+mn-ea"/>
                          <a:cs typeface="+mn-cs"/>
                        </a:rPr>
                        <a:t>mtry</a:t>
                      </a:r>
                      <a:r>
                        <a:rPr lang="en-US" sz="1600" dirty="0"/>
                        <a:t>, </a:t>
                      </a:r>
                      <a:r>
                        <a:rPr lang="en-US" sz="1800" kern="1200" dirty="0" err="1">
                          <a:solidFill>
                            <a:schemeClr val="dk1"/>
                          </a:solidFill>
                          <a:latin typeface="+mn-lt"/>
                          <a:ea typeface="+mn-ea"/>
                          <a:cs typeface="+mn-cs"/>
                        </a:rPr>
                        <a:t>tree_depth</a:t>
                      </a:r>
                      <a:r>
                        <a:rPr lang="en-US" sz="1600" dirty="0"/>
                        <a:t>)</a:t>
                      </a:r>
                    </a:p>
                    <a:p>
                      <a:pPr marL="285750" indent="-285750">
                        <a:buFont typeface="Arial" panose="020B0604020202020204" pitchFamily="34" charset="0"/>
                        <a:buChar char="•"/>
                      </a:pPr>
                      <a:r>
                        <a:rPr lang="en-US" sz="1600" dirty="0"/>
                        <a:t>Fast to train and highly efficient with large datasets</a:t>
                      </a:r>
                    </a:p>
                    <a:p>
                      <a:pPr marL="285750" indent="-285750">
                        <a:buFont typeface="Arial" panose="020B0604020202020204" pitchFamily="34" charset="0"/>
                        <a:buChar char="•"/>
                      </a:pPr>
                      <a:r>
                        <a:rPr lang="en-US" sz="1600" dirty="0"/>
                        <a:t>Automatically handles nonlinear relationships and variable interactions</a:t>
                      </a:r>
                    </a:p>
                    <a:p>
                      <a:pPr marL="285750" indent="-285750">
                        <a:buFont typeface="Arial" panose="020B0604020202020204" pitchFamily="34" charset="0"/>
                        <a:buChar char="•"/>
                      </a:pPr>
                      <a:r>
                        <a:rPr lang="en-US" sz="1600" dirty="0"/>
                        <a:t>Works especially well after recipe preprocessing (dummy variables, imputation, correlation filtering)</a:t>
                      </a:r>
                    </a:p>
                    <a:p>
                      <a:pPr marL="285750" indent="-285750">
                        <a:buFont typeface="Arial" panose="020B0604020202020204" pitchFamily="34" charset="0"/>
                        <a:buChar char="•"/>
                      </a:pPr>
                      <a:r>
                        <a:rPr lang="en-US" sz="1600" b="1" dirty="0"/>
                        <a:t>Leaderboard Score: 0.17332</a:t>
                      </a:r>
                      <a:endParaRPr lang="en-US" sz="1600" dirty="0"/>
                    </a:p>
                  </a:txBody>
                  <a:tcPr/>
                </a:tc>
                <a:extLst>
                  <a:ext uri="{0D108BD9-81ED-4DB2-BD59-A6C34878D82A}">
                    <a16:rowId xmlns:a16="http://schemas.microsoft.com/office/drawing/2014/main" val="2529183205"/>
                  </a:ext>
                </a:extLst>
              </a:tr>
            </a:tbl>
          </a:graphicData>
        </a:graphic>
      </p:graphicFrame>
    </p:spTree>
    <p:extLst>
      <p:ext uri="{BB962C8B-B14F-4D97-AF65-F5344CB8AC3E}">
        <p14:creationId xmlns:p14="http://schemas.microsoft.com/office/powerpoint/2010/main" val="3292340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9CDB7-9105-E3A2-F7CC-15CC57921D37}"/>
              </a:ext>
            </a:extLst>
          </p:cNvPr>
          <p:cNvSpPr>
            <a:spLocks noGrp="1"/>
          </p:cNvSpPr>
          <p:nvPr>
            <p:ph type="title"/>
          </p:nvPr>
        </p:nvSpPr>
        <p:spPr/>
        <p:txBody>
          <a:bodyPr/>
          <a:lstStyle/>
          <a:p>
            <a:r>
              <a:rPr lang="en-US" dirty="0"/>
              <a:t>Details of Best Model: BART</a:t>
            </a:r>
          </a:p>
        </p:txBody>
      </p:sp>
      <p:sp>
        <p:nvSpPr>
          <p:cNvPr id="3" name="Content Placeholder 2">
            <a:extLst>
              <a:ext uri="{FF2B5EF4-FFF2-40B4-BE49-F238E27FC236}">
                <a16:creationId xmlns:a16="http://schemas.microsoft.com/office/drawing/2014/main" id="{58AC8E8D-F08D-7FEF-C36E-4C42E9C700C9}"/>
              </a:ext>
            </a:extLst>
          </p:cNvPr>
          <p:cNvSpPr>
            <a:spLocks noGrp="1"/>
          </p:cNvSpPr>
          <p:nvPr>
            <p:ph idx="1"/>
          </p:nvPr>
        </p:nvSpPr>
        <p:spPr/>
        <p:txBody>
          <a:bodyPr>
            <a:normAutofit fontScale="70000" lnSpcReduction="20000"/>
          </a:bodyPr>
          <a:lstStyle/>
          <a:p>
            <a:r>
              <a:rPr lang="en-US" dirty="0"/>
              <a:t>The BART model works by combining </a:t>
            </a:r>
            <a:r>
              <a:rPr lang="en-US" i="1" dirty="0"/>
              <a:t>many</a:t>
            </a:r>
            <a:r>
              <a:rPr lang="en-US" dirty="0"/>
              <a:t> small regression trees, each contributing a tiny part to the final prediction. This “additive” structure helps it capture subtle, nonlinear relationships in the vehicle features.</a:t>
            </a:r>
          </a:p>
          <a:p>
            <a:r>
              <a:rPr lang="en-US" dirty="0"/>
              <a:t>Unlike traditional tree models, BART uses Bayesian principles, meaning it places priors on the tree structures and automatically regularizes the model. This prevents overfitting, which is especially important in a noisy dataset like </a:t>
            </a:r>
            <a:r>
              <a:rPr lang="en-US" i="1" dirty="0"/>
              <a:t>Don’t Get Kicked</a:t>
            </a:r>
            <a:r>
              <a:rPr lang="en-US" dirty="0"/>
              <a:t>.</a:t>
            </a:r>
          </a:p>
          <a:p>
            <a:r>
              <a:rPr lang="en-US" dirty="0"/>
              <a:t>BART excels in situations where interactions between variables are hard to hand-engineer. It can naturally uncover complex patterns related to things like mileage, age of vehicle, purchase auction, or condition.</a:t>
            </a:r>
          </a:p>
          <a:p>
            <a:r>
              <a:rPr lang="en-US" dirty="0"/>
              <a:t>The model produces probabilistic predictions rather than just fixed outputs. This gives more stable classification behavior by smoothing overly confident predictions from individual trees.</a:t>
            </a:r>
          </a:p>
          <a:p>
            <a:r>
              <a:rPr lang="en-US" dirty="0"/>
              <a:t>Because BART tends to emphasize generalizable structure rather than deep, highly variable trees, it handled the messy, categorical-heavy nature of the dataset more reliably than other models tested.</a:t>
            </a:r>
          </a:p>
          <a:p>
            <a:endParaRPr lang="en-US" dirty="0"/>
          </a:p>
        </p:txBody>
      </p:sp>
    </p:spTree>
    <p:extLst>
      <p:ext uri="{BB962C8B-B14F-4D97-AF65-F5344CB8AC3E}">
        <p14:creationId xmlns:p14="http://schemas.microsoft.com/office/powerpoint/2010/main" val="2828346505"/>
      </p:ext>
    </p:extLst>
  </p:cSld>
  <p:clrMapOvr>
    <a:masterClrMapping/>
  </p:clrMapOvr>
</p:sld>
</file>

<file path=ppt/theme/theme1.xml><?xml version="1.0" encoding="utf-8"?>
<a:theme xmlns:a="http://schemas.openxmlformats.org/drawingml/2006/main" name="GradientVTI">
  <a:themeElements>
    <a:clrScheme name="Office">
      <a:dk1>
        <a:srgbClr val="000000"/>
      </a:dk1>
      <a:lt1>
        <a:srgbClr val="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Univers">
      <a:majorFont>
        <a:latin typeface="Univers"/>
        <a:ea typeface=""/>
        <a:cs typeface=""/>
      </a:majorFont>
      <a:minorFont>
        <a:latin typeface="Univer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VTI" id="{605F9078-86F9-4258-A3E1-F8EFF02AE8CC}" vid="{4848699B-BB01-41E3-9EC4-3D97DFE5292B}"/>
    </a:ext>
  </a:extLst>
</a:theme>
</file>

<file path=docProps/app.xml><?xml version="1.0" encoding="utf-8"?>
<Properties xmlns="http://schemas.openxmlformats.org/officeDocument/2006/extended-properties" xmlns:vt="http://schemas.openxmlformats.org/officeDocument/2006/docPropsVTypes">
  <TotalTime>1651</TotalTime>
  <Words>703</Words>
  <Application>Microsoft Macintosh PowerPoint</Application>
  <PresentationFormat>Widescreen</PresentationFormat>
  <Paragraphs>46</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Univers</vt:lpstr>
      <vt:lpstr>GradientVTI</vt:lpstr>
      <vt:lpstr>Final Kaggle Competition: Don’t get kicked </vt:lpstr>
      <vt:lpstr>Problem Background</vt:lpstr>
      <vt:lpstr>Description of Feature Engineering</vt:lpstr>
      <vt:lpstr>Model Comparison</vt:lpstr>
      <vt:lpstr>Details of Best Model: BART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Angelina Camen</dc:creator>
  <cp:lastModifiedBy>Angelina Camen</cp:lastModifiedBy>
  <cp:revision>3</cp:revision>
  <dcterms:created xsi:type="dcterms:W3CDTF">2025-12-01T17:47:23Z</dcterms:created>
  <dcterms:modified xsi:type="dcterms:W3CDTF">2025-12-09T00:16:21Z</dcterms:modified>
</cp:coreProperties>
</file>